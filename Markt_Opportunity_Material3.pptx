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6E1E5"/>
                </a:solidFill>
                <a:latin typeface="Roboto"/>
              </a:defRPr>
            </a:pPr>
            <a:r>
              <a:t>Markt-Opportunity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0BCFF"/>
                </a:solidFill>
                <a:latin typeface="Roboto"/>
              </a:defRPr>
            </a:pPr>
            <a:r>
              <a:t>TAM → SAM → SOM: Vom globalen Markt zum erreichbaren Geschäft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828800" cy="18288"/>
          </a:xfrm>
          <a:prstGeom prst="rect">
            <a:avLst/>
          </a:prstGeom>
          <a:solidFill>
            <a:srgbClr val="D0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371600"/>
            <a:ext cx="5486400" cy="5486400"/>
          </a:xfrm>
          <a:prstGeom prst="ellipse">
            <a:avLst/>
          </a:prstGeom>
          <a:solidFill>
            <a:srgbClr val="313033"/>
          </a:solidFill>
          <a:ln w="12700">
            <a:solidFill>
              <a:srgbClr val="93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7440" y="2651760"/>
            <a:ext cx="2926080" cy="2926080"/>
          </a:xfrm>
          <a:prstGeom prst="ellipse">
            <a:avLst/>
          </a:prstGeom>
          <a:solidFill>
            <a:srgbClr val="4F378B"/>
          </a:solidFill>
          <a:ln w="2540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0" y="3474720"/>
            <a:ext cx="1280160" cy="1280160"/>
          </a:xfrm>
          <a:prstGeom prst="ellipse">
            <a:avLst/>
          </a:prstGeom>
          <a:solidFill>
            <a:srgbClr val="D0BCFF"/>
          </a:solidFill>
          <a:ln w="12700">
            <a:solidFill>
              <a:srgbClr val="E6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011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38F99"/>
                </a:solidFill>
                <a:latin typeface="Roboto"/>
              </a:defRPr>
            </a:pPr>
            <a: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E1E5"/>
                </a:solidFill>
                <a:latin typeface="Roboto"/>
              </a:defRPr>
            </a:pPr>
            <a:r>
              <a:t>43 Mio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40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0BCFF"/>
                </a:solidFill>
                <a:latin typeface="Roboto"/>
              </a:defRPr>
            </a:pPr>
            <a: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E1E5"/>
                </a:solidFill>
                <a:latin typeface="Roboto"/>
              </a:defRPr>
            </a:pPr>
            <a:r>
              <a:t>1,3 Mio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C1B1F"/>
                </a:solidFill>
                <a:latin typeface="Roboto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2062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1B1F"/>
                </a:solidFill>
                <a:latin typeface="Roboto"/>
              </a:defRPr>
            </a:pPr>
            <a:r>
              <a:t>65K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011680"/>
            <a:ext cx="4389120" cy="1051560"/>
          </a:xfrm>
          <a:prstGeom prst="roundRect">
            <a:avLst/>
          </a:prstGeom>
          <a:solidFill>
            <a:srgbClr val="313033"/>
          </a:solidFill>
          <a:ln>
            <a:solidFill>
              <a:srgbClr val="93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1031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38F99"/>
                </a:solidFill>
                <a:latin typeface="Roboto"/>
              </a:defRPr>
            </a:pPr>
            <a:r>
              <a:t>TOTAL ADDRESSABLE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331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1E5"/>
                </a:solidFill>
                <a:latin typeface="Roboto"/>
              </a:defRPr>
            </a:pPr>
            <a:r>
              <a:t>43 Mio Gebäude weltweit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74320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38F99"/>
                </a:solidFill>
                <a:latin typeface="Roboto"/>
              </a:defRPr>
            </a:pPr>
            <a:r>
              <a:t>Naturstein in Common Areas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200400"/>
            <a:ext cx="4389120" cy="1051560"/>
          </a:xfrm>
          <a:prstGeom prst="roundRect">
            <a:avLst/>
          </a:prstGeom>
          <a:solidFill>
            <a:srgbClr val="4F378B"/>
          </a:solidFill>
          <a:ln w="19050">
            <a:solidFill>
              <a:srgbClr val="D0B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329184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0BCFF"/>
                </a:solidFill>
                <a:latin typeface="Roboto"/>
              </a:defRPr>
            </a:pPr>
            <a:r>
              <a:t>SERVICEABLE ADDRESSABLE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5204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1E5"/>
                </a:solidFill>
                <a:latin typeface="Roboto"/>
              </a:defRPr>
            </a:pPr>
            <a:r>
              <a:t>1,3 Mio Gebäude (DACH + TR)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9319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0BCFF"/>
                </a:solidFill>
                <a:latin typeface="Roboto"/>
              </a:defRPr>
            </a:pPr>
            <a:r>
              <a:t>Operativ erreichbar • 3% vom TAM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389120"/>
            <a:ext cx="4389120" cy="1051560"/>
          </a:xfrm>
          <a:prstGeom prst="roundRect">
            <a:avLst/>
          </a:prstGeom>
          <a:solidFill>
            <a:srgbClr val="313033"/>
          </a:solidFill>
          <a:ln w="19050">
            <a:solidFill>
              <a:srgbClr val="EFB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448056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B8C8"/>
                </a:solidFill>
                <a:latin typeface="Roboto"/>
              </a:defRPr>
            </a:pPr>
            <a:r>
              <a:t>SERVICEABLE OBTAINABLE 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7091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1E5"/>
                </a:solidFill>
                <a:latin typeface="Roboto"/>
              </a:defRPr>
            </a:pPr>
            <a:r>
              <a:t>65.000 Gebäude | €130 Mio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512064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B8C8"/>
                </a:solidFill>
                <a:latin typeface="Roboto"/>
              </a:defRPr>
            </a:pPr>
            <a:r>
              <a:t>5% Marktanteil in 5 Jahren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623560"/>
            <a:ext cx="2560320" cy="457200"/>
          </a:xfrm>
          <a:prstGeom prst="roundRect">
            <a:avLst/>
          </a:prstGeom>
          <a:solidFill>
            <a:srgbClr val="313033"/>
          </a:solidFill>
          <a:ln>
            <a:solidFill>
              <a:srgbClr val="93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9671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E1E5"/>
                </a:solidFill>
                <a:latin typeface="Roboto"/>
              </a:defRPr>
            </a:pPr>
            <a:r>
              <a:t>70% Altbestand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7959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38F99"/>
                </a:solidFill>
                <a:latin typeface="Roboto"/>
              </a:defRPr>
            </a:pPr>
            <a:r>
              <a:t>DACH + Türkei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5623560"/>
            <a:ext cx="2560320" cy="457200"/>
          </a:xfrm>
          <a:prstGeom prst="roundRect">
            <a:avLst/>
          </a:prstGeom>
          <a:solidFill>
            <a:srgbClr val="313033"/>
          </a:solidFill>
          <a:ln>
            <a:solidFill>
              <a:srgbClr val="93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569671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E1E5"/>
                </a:solidFill>
                <a:latin typeface="Roboto"/>
              </a:defRPr>
            </a:pPr>
            <a:r>
              <a:t>85% Altbestand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87959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38F99"/>
                </a:solidFill>
                <a:latin typeface="Roboto"/>
              </a:defRPr>
            </a:pPr>
            <a:r>
              <a:t>Europa/Weltweit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5623560"/>
            <a:ext cx="2560320" cy="457200"/>
          </a:xfrm>
          <a:prstGeom prst="roundRect">
            <a:avLst/>
          </a:prstGeom>
          <a:solidFill>
            <a:srgbClr val="313033"/>
          </a:solidFill>
          <a:ln>
            <a:solidFill>
              <a:srgbClr val="93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69671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E1E5"/>
                </a:solidFill>
                <a:latin typeface="Roboto"/>
              </a:defRPr>
            </a:pPr>
            <a:r>
              <a:t>€2.000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87959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38F99"/>
                </a:solidFill>
                <a:latin typeface="Roboto"/>
              </a:defRPr>
            </a:pPr>
            <a:r>
              <a:t>Ø Auftragswert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5623560"/>
            <a:ext cx="2560320" cy="457200"/>
          </a:xfrm>
          <a:prstGeom prst="roundRect">
            <a:avLst/>
          </a:prstGeom>
          <a:solidFill>
            <a:srgbClr val="313033"/>
          </a:solidFill>
          <a:ln>
            <a:solidFill>
              <a:srgbClr val="938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569671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E1E5"/>
                </a:solidFill>
                <a:latin typeface="Roboto"/>
              </a:defRPr>
            </a:pPr>
            <a:r>
              <a:t>35%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879592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38F99"/>
                </a:solidFill>
                <a:latin typeface="Roboto"/>
              </a:defRPr>
            </a:pPr>
            <a:r>
              <a:t>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38F99"/>
                </a:solidFill>
                <a:latin typeface="Roboto"/>
              </a:defRPr>
            </a:pPr>
            <a:r>
              <a:t>Quellen: Destatis • Statistik Austria • BFS Schweiz • METU Istanbul • BPIE • EU Commission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