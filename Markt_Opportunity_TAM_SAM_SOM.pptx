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Markt-Opportunity (TAM / SAM / SOM)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t>Naturstein-Restoration in Common Areas: riesiger Bestand, klarer Fokus, realistische Eroberung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87878"/>
                </a:solidFill>
              </a:defRPr>
            </a:pPr>
            <a:r>
              <a:t>TAM (Worldwide)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</a:defRPr>
            </a:pPr>
            <a:r>
              <a:t>43 Mio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Gebäude weltweit mit Naturstein in Treppenhäusern, Lobbys &amp; Hauptgängen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474720" cy="25603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SAM (DACH + Türkei)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40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94560"/>
                </a:solidFill>
              </a:defRPr>
            </a:pPr>
            <a:r>
              <a:t>1,3 Mio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832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78"/>
                </a:solidFill>
              </a:defRPr>
            </a:pPr>
            <a:r>
              <a:t>Gebäude, die wir operativ bedienen können (Go-to-Market Fokus)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474720" cy="2560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SOM (5 Jahre)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65.000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</a:defRPr>
            </a:pPr>
            <a:r>
              <a:t>€130 Mio Umsatz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t>Realistischer Marktanteil: 5% vom SAM in 5 Jahren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526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TAM: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486400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164592" cy="228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983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94560"/>
                </a:solidFill>
              </a:defRPr>
            </a:pPr>
            <a:r>
              <a:t>SAM: 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5486400" cy="228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82296" cy="228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440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A1A2E"/>
                </a:solidFill>
              </a:defRPr>
            </a:pPr>
            <a:r>
              <a:t>SOM: 0,15% (5% von SAM)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572000"/>
            <a:ext cx="393192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46634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BESTAND DOMINIERT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50292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DACH + Türkei: 70% Altbestand | Europa/Weltweit: 85% Altbestand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Quellen: Destatis (DE Gebäudetypen), Statistik Austria, BFS Schweiz, Istanbul building stock (METU), EU building stock shares (BPIE), EU pre-2000 share (EU Commission)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