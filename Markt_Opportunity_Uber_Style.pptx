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  <a:latin typeface="Helvetica Neue"/>
              </a:defRPr>
            </a:pPr>
            <a:r>
              <a:t>01 / MARKT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Ein riesiger Markt,</a:t>
            </a:r>
          </a:p>
          <a:p>
            <a:r>
              <a:t>der nach Effizienz schreit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Helvetica Neue"/>
              </a:defRPr>
            </a:pPr>
            <a:r>
              <a:t>TAM • SAM • SOM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362895" cy="914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977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87878"/>
                </a:solidFill>
                <a:latin typeface="Helvetica Neue"/>
              </a:defRPr>
            </a:pPr>
            <a:r>
              <a:t>Mio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  <a:latin typeface="Helvetica Neue"/>
              </a:defRPr>
            </a:pPr>
            <a:r>
              <a:t>TOTAL ADDRESSABLE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787878"/>
                </a:solidFill>
                <a:latin typeface="Helvetica Neue"/>
              </a:defRPr>
            </a:pPr>
            <a:r>
              <a:t>Gebäude weltweit mit Naturstein in Common Areas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566160"/>
            <a:ext cx="3749040" cy="29260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1,3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977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Helvetica Neue"/>
              </a:defRPr>
            </a:pPr>
            <a:r>
              <a:t>Mio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937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Helvetica Neue"/>
              </a:defRPr>
            </a:pPr>
            <a:r>
              <a:t>SERVICEABLE ADDRESSABLE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3035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B4B4B4"/>
                </a:solidFill>
                <a:latin typeface="Helvetica Neue"/>
              </a:defRPr>
            </a:pPr>
            <a:r>
              <a:t>DACH + Türkei</a:t>
            </a:r>
          </a:p>
          <a:p>
            <a:r>
              <a:t>Unser Go-to-Market Fokus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6908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840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977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87878"/>
                </a:solidFill>
                <a:latin typeface="Helvetica Neue"/>
              </a:defRPr>
            </a:pPr>
            <a: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€130 Mio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937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SERVICEABLE OBTAINABLE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035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5% Marktanteil</a:t>
            </a:r>
          </a:p>
          <a:p>
            <a:r>
              <a:t>Erreichbar in 5 Jahren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6217920"/>
            <a:ext cx="9144" cy="4572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92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Altbestand DACH + 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62179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6492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Altbestand Europa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217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€2.000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4922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Ø Auftragswert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6217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64922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