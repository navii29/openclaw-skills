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Helvetica Neue"/>
              </a:defRPr>
            </a:pPr>
            <a:r>
              <a:t>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Helvetica Neue"/>
              </a:defRPr>
            </a:pPr>
            <a:r>
              <a:t>→ 004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18288" cy="38404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99"/>
                </a:solidFill>
                <a:latin typeface="Helvetica Neue"/>
              </a:defRPr>
            </a:pPr>
            <a:r>
              <a:t>Mio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1,3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54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99"/>
                </a:solidFill>
              </a:defRPr>
            </a:pPr>
            <a:r>
              <a:t>Mio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343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99"/>
                </a:solidFill>
              </a:defRPr>
            </a:pPr>
            <a:r>
              <a:t>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Total Addressable Market</a:t>
            </a:r>
          </a:p>
          <a:p>
            <a:pPr>
              <a:defRPr sz="1100">
                <a:solidFill>
                  <a:srgbClr val="999999"/>
                </a:solidFill>
              </a:defRPr>
            </a:pPr>
            <a:r>
              <a:t>Weltweit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46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Serviceable Addressable Market</a:t>
            </a:r>
          </a:p>
          <a:p>
            <a:pPr>
              <a:defRPr sz="1100">
                <a:solidFill>
                  <a:srgbClr val="999999"/>
                </a:solidFill>
              </a:defRPr>
            </a:pPr>
            <a:r>
              <a:t>DACH + Türkei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348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Serviceable Obtainable Market</a:t>
            </a:r>
          </a:p>
          <a:p>
            <a:pPr>
              <a:defRPr sz="1100">
                <a:solidFill>
                  <a:srgbClr val="999999"/>
                </a:solidFill>
              </a:defRPr>
            </a:pPr>
            <a:r>
              <a:t>5 Jahre • €130 Mio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11091672" cy="914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70% Altbestand</a:t>
            </a:r>
          </a:p>
          <a:p>
            <a:pPr>
              <a:defRPr sz="1000">
                <a:solidFill>
                  <a:srgbClr val="999999"/>
                </a:solidFill>
              </a:defRPr>
            </a:pPr>
            <a:r>
              <a:t>DACH + 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943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85% Altbestand</a:t>
            </a:r>
          </a:p>
          <a:p>
            <a:pPr>
              <a:defRPr sz="1000">
                <a:solidFill>
                  <a:srgbClr val="999999"/>
                </a:solidFill>
              </a:defRPr>
            </a:pPr>
            <a:r>
              <a:t>Europa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943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€2.000</a:t>
            </a:r>
          </a:p>
          <a:p>
            <a:pPr>
              <a:defRPr sz="1000">
                <a:solidFill>
                  <a:srgbClr val="999999"/>
                </a:solidFill>
              </a:defRPr>
            </a:pPr>
            <a:r>
              <a:t>Ø Auftrag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943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35%</a:t>
            </a:r>
          </a:p>
          <a:p>
            <a:pPr>
              <a:defRPr sz="1000">
                <a:solidFill>
                  <a:srgbClr val="999999"/>
                </a:solidFill>
              </a:defRPr>
            </a:pPr>
            <a: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