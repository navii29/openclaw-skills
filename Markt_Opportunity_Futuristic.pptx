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ontserrat"/>
              </a:defRPr>
            </a:pPr>
            <a:r>
              <a:t>MARKT-OPPORTUNITY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FF"/>
                </a:solidFill>
                <a:latin typeface="Inter"/>
              </a:defRPr>
            </a:pPr>
            <a:r>
              <a:t>TAM → SAM → SOM: Der Weg vom globalen Markt zum erreichbaren Geschäft</a:t>
            </a:r>
          </a:p>
        </p:txBody>
      </p:sp>
      <p:sp>
        <p:nvSpPr>
          <p:cNvPr id="5" name="Oval 4"/>
          <p:cNvSpPr/>
          <p:nvPr/>
        </p:nvSpPr>
        <p:spPr>
          <a:xfrm>
            <a:off x="1554480" y="1371600"/>
            <a:ext cx="5120640" cy="512064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8880" y="2286000"/>
            <a:ext cx="3291840" cy="3291840"/>
          </a:xfrm>
          <a:prstGeom prst="ellipse">
            <a:avLst/>
          </a:prstGeom>
          <a:solidFill>
            <a:srgbClr val="334155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3108960"/>
            <a:ext cx="1645920" cy="1645920"/>
          </a:xfrm>
          <a:prstGeom prst="ellipse">
            <a:avLst/>
          </a:prstGeom>
          <a:solidFill>
            <a:srgbClr val="8B5C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9202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FFFF"/>
                </a:solidFill>
              </a:defRPr>
            </a:pPr>
            <a:r>
              <a:t>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774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43 Mio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65760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0233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1,3 Mio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94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0690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65K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011680"/>
            <a:ext cx="393192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1031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FFFF"/>
                </a:solidFill>
              </a:defRPr>
            </a:pPr>
            <a:r>
              <a:t>🌍 TOTAL ADDRESSABLE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3774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43 Millionen Gebäude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788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Weltweit mit Naturstein in Common Areas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383280"/>
            <a:ext cx="393192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3474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6B35"/>
                </a:solidFill>
              </a:defRPr>
            </a:pPr>
            <a:r>
              <a:t>🎯 SERVICEABLE ADDRESSABLE 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749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1,3 Millionen Gebäude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160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DACH + Türkei, operativ erreichbar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754880"/>
            <a:ext cx="3931920" cy="1188720"/>
          </a:xfrm>
          <a:prstGeom prst="roundRect">
            <a:avLst/>
          </a:prstGeom>
          <a:solidFill>
            <a:srgbClr val="8B5CF6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48463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🚀 SERVICEABLE OBTAINABLE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5074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65.000 Gebäude | €130 Mio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55321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5% Marktanteil in 5 Jahren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852160"/>
            <a:ext cx="107899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943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📊 DACH + Türkei: 70% Altbestand  |  Europa/Weltweit: 85% Altbestand  |  Ø Auftragswert: €2.000  |  Margin: 35%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0" y="274320"/>
            <a:ext cx="365760" cy="274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68328" y="274320"/>
            <a:ext cx="27432" cy="3657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6400800"/>
            <a:ext cx="36576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6062472"/>
            <a:ext cx="27432" cy="3657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Quellen: Destatis, Statistik Austria, BFS Schweiz, METU Istanbul, BPIE, EU Commission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